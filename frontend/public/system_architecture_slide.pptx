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2B33-E6E5-45D6-ABA3-0E7FC7E57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AA140-E748-48F5-B9C8-B7F32D0F4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FB6E2-0D47-48F5-B9DF-DF3037E0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9155D-2874-48E7-B983-9963D234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91F12-21B7-4C66-8E82-187869E4D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F921E-BF60-4811-8840-A5C52E35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66765-107A-4FD9-BD43-AFBFA3452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71BC6-7C75-4759-A55D-E3163826C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23A73-D39A-4FC8-9D2F-3BA2C0D86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3596E-121A-4521-98F4-BFD51E56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32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7C68C-B7F6-4983-BA69-C7AD00111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C0E1F-9A7B-4238-82FD-379C36E2F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B9E07-794B-4744-86B5-1BE963B08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8FAAF-8500-4D47-922F-491A4791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89631-0353-46CB-8C49-0CB50933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2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6C3-8EE8-4A37-B7F2-79D85BB5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E6C9-1C8A-4441-9481-22EE561DF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0C2E7-054B-4556-AC12-9C2D204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874E5-2E55-4903-BC95-F606EA1A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6B737-B3B8-42FC-8E93-7134A6DC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DB277-4D37-4D3A-85DF-ACB343B8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A0F3D-8AC2-4DF9-8314-8B5A459B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85999-FFD1-45A5-B8E2-0D9FD4BE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E5E54-422D-4DAD-8863-14D6D72D5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11EF85-B908-45BA-9DA5-DB1B2520E2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79D7B-C24D-4E93-AD92-D2F7B55C3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79E42-D30D-429F-9E36-D17A3C17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23E2F0-8B42-4AD7-8DA0-772C590E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40300-02F0-4570-9C26-C745D4AE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97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DB23-C812-439E-92C9-8A484DC2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873252-8D38-450B-9EDF-D9F35B897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EC74C-C905-49F2-99A7-EFEBADD5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A33AF-18DE-4DFF-8928-2601424B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3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62DF8-2654-468F-A1BE-073C0990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822D52-9A28-4D81-8E75-5AB1A6F6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D6D9E-46C1-4B8F-93D9-2CC9014E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90C4-E4AE-4CC5-85FC-BD4ED44EA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405DE-EE7B-4137-863A-25528286C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FA443-3A98-4D53-8084-FC5359E9B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6694F-F497-40DC-886D-EB467E0E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2050C-4445-4B8C-9B15-C7BDCEFE0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52274-18E6-4F60-80D0-1B3623E4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09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44DC-5822-4CB9-8BFA-58B09F518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F86252-1266-49C4-86B4-6CBEE2199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DF6A-731F-4237-A5A6-C7E7C2875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ED483-143A-4552-96DD-1058DC34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2510B-4696-47C9-BA12-F53009286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4D150-27AE-45A9-AAED-57814B16F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60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C7AA-572E-4016-825C-2828B8FE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19205-FDBF-40EC-AE05-6F310504D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6F878-0FBD-4999-81C7-60D8DAC5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3F1B3-495A-4205-8D34-10B6AA312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844DA-392E-45C8-A984-04ECA532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97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DD077-F419-4432-B649-4DB9D19FC8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D80E3-F302-4F23-8819-1C2A7B599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37E2B-B941-4A91-B44E-E9FF7731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F351E-345B-46ED-9C7D-090EEAF99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B86B6-AC09-4C28-A56C-7F11B759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0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AACCD0-3DA6-4A26-A6DF-E91B917DE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6E2B6-B726-4896-8202-EE3F607A7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382B1-89A9-4CD6-8108-BB2F420D3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10B0E-AE38-4AF3-AB4B-5AB6537A17F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1AF50-188E-44BB-8CD3-1A8FC915A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A6355-A58E-4693-A95E-092C175AC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1248-5C26-4211-9ED0-A31777BB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0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AAC8F5-EAD1-49FB-BB8D-89A4BE19BE78}"/>
              </a:ext>
            </a:extLst>
          </p:cNvPr>
          <p:cNvSpPr/>
          <p:nvPr/>
        </p:nvSpPr>
        <p:spPr>
          <a:xfrm>
            <a:off x="203200" y="101600"/>
            <a:ext cx="11785600" cy="533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E13D60-20C8-4F7A-854F-4E7DA32004EE}"/>
              </a:ext>
            </a:extLst>
          </p:cNvPr>
          <p:cNvSpPr/>
          <p:nvPr/>
        </p:nvSpPr>
        <p:spPr>
          <a:xfrm>
            <a:off x="304800" y="190500"/>
            <a:ext cx="1117600" cy="355600"/>
          </a:xfrm>
          <a:prstGeom prst="roundRect">
            <a:avLst/>
          </a:prstGeom>
          <a:solidFill>
            <a:srgbClr val="2D0F14"/>
          </a:solidFill>
          <a:ln w="19050">
            <a:solidFill>
              <a:srgbClr val="EF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CA5A5"/>
                </a:solidFill>
                <a:latin typeface="Segoe UI" panose="020B0502040204020203" pitchFamily="34" charset="0"/>
              </a:rPr>
              <a:t>INVINCIBLE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9DD40-6B65-4E34-A013-4330A306E81D}"/>
              </a:ext>
            </a:extLst>
          </p:cNvPr>
          <p:cNvSpPr txBox="1"/>
          <p:nvPr/>
        </p:nvSpPr>
        <p:spPr>
          <a:xfrm>
            <a:off x="1524000" y="139700"/>
            <a:ext cx="584200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50" b="1">
                <a:solidFill>
                  <a:srgbClr val="F8FAFC"/>
                </a:solidFill>
                <a:latin typeface="Segoe UI" panose="020B0502040204020203" pitchFamily="34" charset="0"/>
              </a:rPr>
              <a:t>ShilpSetu AI (</a:t>
            </a:r>
            <a:r>
              <a:rPr lang="hi-IN" sz="1350" b="1">
                <a:solidFill>
                  <a:srgbClr val="F8FAFC"/>
                </a:solidFill>
                <a:latin typeface="Segoe UI" panose="020B0502040204020203" pitchFamily="34" charset="0"/>
              </a:rPr>
              <a:t>शिल्पसेतु </a:t>
            </a:r>
            <a:r>
              <a:rPr lang="en-US" sz="1350" b="1">
                <a:solidFill>
                  <a:srgbClr val="F8FAFC"/>
                </a:solidFill>
                <a:latin typeface="Segoe UI" panose="020B0502040204020203" pitchFamily="34" charset="0"/>
              </a:rPr>
              <a:t>AI) — Interconnected 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C91C3-E77F-441C-8287-80C9505FEA3F}"/>
              </a:ext>
            </a:extLst>
          </p:cNvPr>
          <p:cNvSpPr txBox="1"/>
          <p:nvPr/>
        </p:nvSpPr>
        <p:spPr>
          <a:xfrm>
            <a:off x="1524000" y="368300"/>
            <a:ext cx="5842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50">
                <a:solidFill>
                  <a:srgbClr val="94A3B8"/>
                </a:solidFill>
                <a:latin typeface="Segoe UI" panose="020B0502040204020203" pitchFamily="34" charset="0"/>
              </a:rPr>
              <a:t>End-to-End Multimodal Edge &amp; Sovereign Cloud Ingestion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6360C-79F8-4474-ADBB-8F38FC816963}"/>
              </a:ext>
            </a:extLst>
          </p:cNvPr>
          <p:cNvSpPr txBox="1"/>
          <p:nvPr/>
        </p:nvSpPr>
        <p:spPr>
          <a:xfrm>
            <a:off x="7874000" y="127000"/>
            <a:ext cx="2286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sv-SE" sz="850" b="1">
                <a:solidFill>
                  <a:srgbClr val="F59E0B"/>
                </a:solidFill>
                <a:latin typeface="Segoe UI" panose="020B0502040204020203" pitchFamily="34" charset="0"/>
              </a:rPr>
              <a:t>SMART INDIA HACKATHON 2026
Problem ID: 26090</a:t>
            </a:r>
            <a:endParaRPr lang="en-US" sz="85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2A725E-D41A-4C57-9E34-764A6EFF6FA7}"/>
              </a:ext>
            </a:extLst>
          </p:cNvPr>
          <p:cNvSpPr/>
          <p:nvPr/>
        </p:nvSpPr>
        <p:spPr>
          <a:xfrm>
            <a:off x="10287000" y="177800"/>
            <a:ext cx="1574800" cy="381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50" b="1">
                <a:solidFill>
                  <a:srgbClr val="E2E8F0"/>
                </a:solidFill>
                <a:latin typeface="Segoe UI" panose="020B0502040204020203" pitchFamily="34" charset="0"/>
              </a:rPr>
              <a:t>MoSJE • NBCFDC/NSFDC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AEB12B-5F36-4DDF-BE8B-1C2CA0DC959B}"/>
              </a:ext>
            </a:extLst>
          </p:cNvPr>
          <p:cNvSpPr/>
          <p:nvPr/>
        </p:nvSpPr>
        <p:spPr>
          <a:xfrm>
            <a:off x="203200" y="736600"/>
            <a:ext cx="2184400" cy="541020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1E3C15-5BD9-437B-9C1D-D677547FB9AA}"/>
              </a:ext>
            </a:extLst>
          </p:cNvPr>
          <p:cNvSpPr txBox="1"/>
          <p:nvPr/>
        </p:nvSpPr>
        <p:spPr>
          <a:xfrm>
            <a:off x="304800" y="812800"/>
            <a:ext cx="19812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50" b="1">
                <a:solidFill>
                  <a:srgbClr val="38BDF8"/>
                </a:solidFill>
                <a:latin typeface="Segoe UI" panose="020B0502040204020203" pitchFamily="34" charset="0"/>
              </a:rPr>
              <a:t>LAYER 01 • </a:t>
            </a:r>
            <a:r>
              <a:rPr lang="en-US">
                <a:latin typeface="Segoe UI" panose="020B0502040204020203" pitchFamily="34" charset="0"/>
              </a:rPr>
              <a:t>INGESTION
</a:t>
            </a:r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Frontend &amp; UI — </a:t>
            </a:r>
            <a:r>
              <a:rPr lang="en-US">
                <a:latin typeface="Segoe UI" panose="020B0502040204020203" pitchFamily="34" charset="0"/>
              </a:rPr>
              <a:t>Multi-Channel Artisan Access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4E5D50-4A4C-43D5-8050-8C846E98AA4B}"/>
              </a:ext>
            </a:extLst>
          </p:cNvPr>
          <p:cNvCxnSpPr/>
          <p:nvPr/>
        </p:nvCxnSpPr>
        <p:spPr>
          <a:xfrm>
            <a:off x="304800" y="1371600"/>
            <a:ext cx="1981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03E80B-65AA-4325-8C87-BF342E3A7167}"/>
              </a:ext>
            </a:extLst>
          </p:cNvPr>
          <p:cNvSpPr txBox="1"/>
          <p:nvPr/>
        </p:nvSpPr>
        <p:spPr>
          <a:xfrm>
            <a:off x="304800" y="1447800"/>
            <a:ext cx="19812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Flutter (Mobile) </a:t>
            </a:r>
            <a:r>
              <a:rPr lang="en-US">
                <a:latin typeface="Segoe UI" panose="020B0502040204020203" pitchFamily="34" charset="0"/>
              </a:rPr>
              <a:t>[Dart 3]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Cross-platform </a:t>
            </a:r>
            <a:r>
              <a:rPr lang="en-US">
                <a:latin typeface="Segoe UI" panose="020B0502040204020203" pitchFamily="34" charset="0"/>
              </a:rPr>
              <a:t>app, zero-bandwidth offline queue, 60px tactile touch targets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0827C3-9E09-4DD5-9755-9A437DE2D22A}"/>
              </a:ext>
            </a:extLst>
          </p:cNvPr>
          <p:cNvSpPr txBox="1"/>
          <p:nvPr/>
        </p:nvSpPr>
        <p:spPr>
          <a:xfrm>
            <a:off x="304800" y="2609850"/>
            <a:ext cx="1981200" cy="15004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React 18 + Vite </a:t>
            </a:r>
            <a:r>
              <a:rPr lang="en-US">
                <a:latin typeface="Segoe UI" panose="020B0502040204020203" pitchFamily="34" charset="0"/>
              </a:rPr>
              <a:t>[Web]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Responsive buyer </a:t>
            </a:r>
            <a:r>
              <a:rPr lang="en-US">
                <a:latin typeface="Segoe UI" panose="020B0502040204020203" pitchFamily="34" charset="0"/>
              </a:rPr>
              <a:t>marketplace, coordinator audit desk &amp; live analytics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542252-90BF-4CC5-B831-5E3A6805D55A}"/>
              </a:ext>
            </a:extLst>
          </p:cNvPr>
          <p:cNvSpPr txBox="1"/>
          <p:nvPr/>
        </p:nvSpPr>
        <p:spPr>
          <a:xfrm>
            <a:off x="304800" y="3771900"/>
            <a:ext cx="19812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2G IVR Telephony </a:t>
            </a:r>
            <a:r>
              <a:rPr lang="en-US">
                <a:latin typeface="Segoe UI" panose="020B0502040204020203" pitchFamily="34" charset="0"/>
              </a:rPr>
              <a:t>[Hotline]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Keypad feature </a:t>
            </a:r>
            <a:r>
              <a:rPr lang="en-US">
                <a:latin typeface="Segoe UI" panose="020B0502040204020203" pitchFamily="34" charset="0"/>
              </a:rPr>
              <a:t>phone simulation, Web Audio DTMF tones &amp; automated 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AC4956-5DAB-4CC7-BC8D-CCAD12CBD6BE}"/>
              </a:ext>
            </a:extLst>
          </p:cNvPr>
          <p:cNvSpPr txBox="1"/>
          <p:nvPr/>
        </p:nvSpPr>
        <p:spPr>
          <a:xfrm>
            <a:off x="304800" y="4933950"/>
            <a:ext cx="1981200" cy="16619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Tailwind + M3 </a:t>
            </a:r>
            <a:r>
              <a:rPr lang="en-US">
                <a:latin typeface="Segoe UI" panose="020B0502040204020203" pitchFamily="34" charset="0"/>
              </a:rPr>
              <a:t>[Design]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Zero-text icon </a:t>
            </a:r>
            <a:r>
              <a:rPr lang="en-US">
                <a:latin typeface="Segoe UI" panose="020B0502040204020203" pitchFamily="34" charset="0"/>
              </a:rPr>
              <a:t>navigation, warm terracotta aesthetic, accessible WCAG 2.1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28760C-922B-4894-AB5E-E5A290A73A8E}"/>
              </a:ext>
            </a:extLst>
          </p:cNvPr>
          <p:cNvSpPr/>
          <p:nvPr/>
        </p:nvSpPr>
        <p:spPr>
          <a:xfrm>
            <a:off x="2540000" y="736600"/>
            <a:ext cx="2184400" cy="541020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3AA702-523F-49E1-BD91-EA67FBE2D0D0}"/>
              </a:ext>
            </a:extLst>
          </p:cNvPr>
          <p:cNvSpPr txBox="1"/>
          <p:nvPr/>
        </p:nvSpPr>
        <p:spPr>
          <a:xfrm>
            <a:off x="2641600" y="812800"/>
            <a:ext cx="19812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50" b="1">
                <a:solidFill>
                  <a:srgbClr val="10B981"/>
                </a:solidFill>
                <a:latin typeface="Segoe UI" panose="020B0502040204020203" pitchFamily="34" charset="0"/>
              </a:rPr>
              <a:t>LAYER 02 • CORE </a:t>
            </a:r>
            <a:r>
              <a:rPr lang="en-US">
                <a:latin typeface="Segoe UI" panose="020B0502040204020203" pitchFamily="34" charset="0"/>
              </a:rPr>
              <a:t>GATEWAY
</a:t>
            </a:r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Backend &amp; Core — </a:t>
            </a:r>
            <a:r>
              <a:rPr lang="en-US">
                <a:latin typeface="Segoe UI" panose="020B0502040204020203" pitchFamily="34" charset="0"/>
              </a:rPr>
              <a:t>High-Concurrency Orchestrator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93356C1-7AD1-4495-82E9-F736299B4CAD}"/>
              </a:ext>
            </a:extLst>
          </p:cNvPr>
          <p:cNvCxnSpPr/>
          <p:nvPr/>
        </p:nvCxnSpPr>
        <p:spPr>
          <a:xfrm>
            <a:off x="2641600" y="1371600"/>
            <a:ext cx="1981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3A674BB-A9C6-4756-B135-8F2C834DAC9F}"/>
              </a:ext>
            </a:extLst>
          </p:cNvPr>
          <p:cNvSpPr txBox="1"/>
          <p:nvPr/>
        </p:nvSpPr>
        <p:spPr>
          <a:xfrm>
            <a:off x="2641600" y="1447800"/>
            <a:ext cx="1981200" cy="15004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FastAPI [Python </a:t>
            </a:r>
            <a:r>
              <a:rPr lang="en-US">
                <a:latin typeface="Segoe UI" panose="020B0502040204020203" pitchFamily="34" charset="0"/>
              </a:rPr>
              <a:t>3.13]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Stateless async </a:t>
            </a:r>
            <a:r>
              <a:rPr lang="en-US">
                <a:latin typeface="Segoe UI" panose="020B0502040204020203" pitchFamily="34" charset="0"/>
              </a:rPr>
              <a:t>microservices gateway, parallel pipeline dispatch &amp; routing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BB3443-9C73-4697-AAD3-FC62627097EE}"/>
              </a:ext>
            </a:extLst>
          </p:cNvPr>
          <p:cNvSpPr txBox="1"/>
          <p:nvPr/>
        </p:nvSpPr>
        <p:spPr>
          <a:xfrm>
            <a:off x="2641600" y="2609850"/>
            <a:ext cx="19812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Uvicorn ASGI </a:t>
            </a:r>
            <a:r>
              <a:rPr lang="en-US">
                <a:latin typeface="Segoe UI" panose="020B0502040204020203" pitchFamily="34" charset="0"/>
              </a:rPr>
              <a:t>[Async IO]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High-throughput </a:t>
            </a:r>
            <a:r>
              <a:rPr lang="en-US">
                <a:latin typeface="Segoe UI" panose="020B0502040204020203" pitchFamily="34" charset="0"/>
              </a:rPr>
              <a:t>event loop, handling multi-part audio/image streams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9A2AA5-6D7D-4378-9719-EB9768AC7366}"/>
              </a:ext>
            </a:extLst>
          </p:cNvPr>
          <p:cNvSpPr txBox="1"/>
          <p:nvPr/>
        </p:nvSpPr>
        <p:spPr>
          <a:xfrm>
            <a:off x="2641600" y="3771900"/>
            <a:ext cx="1981200" cy="16619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Pydantic v2 </a:t>
            </a:r>
            <a:r>
              <a:rPr lang="en-US">
                <a:latin typeface="Segoe UI" panose="020B0502040204020203" pitchFamily="34" charset="0"/>
              </a:rPr>
              <a:t>[Validation]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Strict schema </a:t>
            </a:r>
            <a:r>
              <a:rPr lang="en-US">
                <a:latin typeface="Segoe UI" panose="020B0502040204020203" pitchFamily="34" charset="0"/>
              </a:rPr>
              <a:t>contracts, craft entity sanitization &amp; coordinator approval logs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AC0FBB-1913-4201-BCFF-AEC23D8882C5}"/>
              </a:ext>
            </a:extLst>
          </p:cNvPr>
          <p:cNvSpPr txBox="1"/>
          <p:nvPr/>
        </p:nvSpPr>
        <p:spPr>
          <a:xfrm>
            <a:off x="2641600" y="4933950"/>
            <a:ext cx="1981200" cy="16619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SQLite WAL / </a:t>
            </a:r>
            <a:r>
              <a:rPr lang="en-US">
                <a:latin typeface="Segoe UI" panose="020B0502040204020203" pitchFamily="34" charset="0"/>
              </a:rPr>
              <a:t>Postgres 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[DB]
</a:t>
            </a:r>
            <a:r>
              <a:rPr lang="en-US">
                <a:latin typeface="Segoe UI" panose="020B0502040204020203" pitchFamily="34" charset="0"/>
              </a:rPr>
              <a:t>  Zero-lock draft catalog persistence, artisan profiles &amp; audit trail log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3F62BE6-433B-40E8-913D-797A24BDC3FC}"/>
              </a:ext>
            </a:extLst>
          </p:cNvPr>
          <p:cNvSpPr/>
          <p:nvPr/>
        </p:nvSpPr>
        <p:spPr>
          <a:xfrm>
            <a:off x="4876800" y="736600"/>
            <a:ext cx="2260600" cy="262890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F8F399-6C4F-4F43-B947-373A8E4759ED}"/>
              </a:ext>
            </a:extLst>
          </p:cNvPr>
          <p:cNvSpPr txBox="1"/>
          <p:nvPr/>
        </p:nvSpPr>
        <p:spPr>
          <a:xfrm>
            <a:off x="4978400" y="812800"/>
            <a:ext cx="2057400" cy="9771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it-IT" sz="750" b="1">
                <a:solidFill>
                  <a:srgbClr val="A855F7"/>
                </a:solidFill>
                <a:latin typeface="Segoe UI" panose="020B0502040204020203" pitchFamily="34" charset="0"/>
              </a:rPr>
              <a:t>LAYER 03A • VISUAL </a:t>
            </a:r>
            <a:r>
              <a:rPr lang="it-IT">
                <a:latin typeface="Segoe UI" panose="020B0502040204020203" pitchFamily="34" charset="0"/>
              </a:rPr>
              <a:t>AI
</a:t>
            </a:r>
            <a:r>
              <a:rPr lang="it-IT" sz="950" b="1">
                <a:solidFill>
                  <a:srgbClr val="FFFFFF"/>
                </a:solidFill>
                <a:latin typeface="Segoe UI" panose="020B0502040204020203" pitchFamily="34" charset="0"/>
              </a:rPr>
              <a:t>Computer Vision — </a:t>
            </a:r>
            <a:r>
              <a:rPr lang="it-IT">
                <a:latin typeface="Segoe UI" panose="020B0502040204020203" pitchFamily="34" charset="0"/>
              </a:rPr>
              <a:t>Photometric Studio Pipeline</a:t>
            </a:r>
            <a:endParaRPr lang="en-US">
              <a:latin typeface="Segoe UI" panose="020B05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993EEBE-CA38-4B5C-AC3A-0AD09F2D9D24}"/>
              </a:ext>
            </a:extLst>
          </p:cNvPr>
          <p:cNvCxnSpPr/>
          <p:nvPr/>
        </p:nvCxnSpPr>
        <p:spPr>
          <a:xfrm>
            <a:off x="4978400" y="1295400"/>
            <a:ext cx="20574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8762290-4D05-44CB-B9D0-D3DF03A2CBE3}"/>
              </a:ext>
            </a:extLst>
          </p:cNvPr>
          <p:cNvSpPr txBox="1"/>
          <p:nvPr/>
        </p:nvSpPr>
        <p:spPr>
          <a:xfrm>
            <a:off x="4978400" y="1371600"/>
            <a:ext cx="20574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rembg (BiRefNet) </a:t>
            </a:r>
            <a:r>
              <a:rPr lang="en-US">
                <a:latin typeface="Segoe UI" panose="020B0502040204020203" pitchFamily="34" charset="0"/>
              </a:rPr>
              <a:t>[Matting]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Sub-2s neural </a:t>
            </a:r>
            <a:r>
              <a:rPr lang="en-US">
                <a:latin typeface="Segoe UI" panose="020B0502040204020203" pitchFamily="34" charset="0"/>
              </a:rPr>
              <a:t>background removal with high-res boundary preservation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285BBE-3DEE-483D-BB6B-D8C91E2D83AC}"/>
              </a:ext>
            </a:extLst>
          </p:cNvPr>
          <p:cNvSpPr txBox="1"/>
          <p:nvPr/>
        </p:nvSpPr>
        <p:spPr>
          <a:xfrm>
            <a:off x="4978400" y="1857375"/>
            <a:ext cx="20574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OpenCV &amp; Pillow </a:t>
            </a:r>
            <a:r>
              <a:rPr lang="en-US">
                <a:latin typeface="Segoe UI" panose="020B0502040204020203" pitchFamily="34" charset="0"/>
              </a:rPr>
              <a:t>[Color 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Science]
</a:t>
            </a:r>
            <a:r>
              <a:rPr lang="en-US">
                <a:latin typeface="Segoe UI" panose="020B0502040204020203" pitchFamily="34" charset="0"/>
              </a:rPr>
              <a:t>  6500K studio color balancing, Gaussian drop-shadow synthesis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4D6B55-24DD-4386-8131-6A93B6CC415B}"/>
              </a:ext>
            </a:extLst>
          </p:cNvPr>
          <p:cNvSpPr txBox="1"/>
          <p:nvPr/>
        </p:nvSpPr>
        <p:spPr>
          <a:xfrm>
            <a:off x="4978400" y="2343150"/>
            <a:ext cx="20574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Skeleton Pruning </a:t>
            </a:r>
            <a:r>
              <a:rPr lang="en-US">
                <a:latin typeface="Segoe UI" panose="020B0502040204020203" pitchFamily="34" charset="0"/>
              </a:rPr>
              <a:t>[Topology]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Multi-component </a:t>
            </a:r>
            <a:r>
              <a:rPr lang="en-US">
                <a:latin typeface="Segoe UI" panose="020B0502040204020203" pitchFamily="34" charset="0"/>
              </a:rPr>
              <a:t>craft retention for intricate zari &amp; pottery rims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6F545F-B83B-4207-87EF-BF04A14D1958}"/>
              </a:ext>
            </a:extLst>
          </p:cNvPr>
          <p:cNvSpPr txBox="1"/>
          <p:nvPr/>
        </p:nvSpPr>
        <p:spPr>
          <a:xfrm>
            <a:off x="4978400" y="2828925"/>
            <a:ext cx="2057400" cy="12388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GrabCut Fallback 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[Resilience]
</a:t>
            </a:r>
            <a:r>
              <a:rPr lang="en-US">
                <a:latin typeface="Segoe UI" panose="020B0502040204020203" pitchFamily="34" charset="0"/>
              </a:rPr>
              <a:t>  Low-resource iterative graph-cut engine if neural VRAM constrained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600E088-D3FE-4393-A33E-5189CDDD7B7B}"/>
              </a:ext>
            </a:extLst>
          </p:cNvPr>
          <p:cNvSpPr/>
          <p:nvPr/>
        </p:nvSpPr>
        <p:spPr>
          <a:xfrm>
            <a:off x="4876800" y="3517900"/>
            <a:ext cx="2260600" cy="262890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FB92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2DB2A9-199F-4F95-93F9-190A769D8728}"/>
              </a:ext>
            </a:extLst>
          </p:cNvPr>
          <p:cNvSpPr txBox="1"/>
          <p:nvPr/>
        </p:nvSpPr>
        <p:spPr>
          <a:xfrm>
            <a:off x="4978400" y="3594100"/>
            <a:ext cx="2057400" cy="8309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50" b="1">
                <a:solidFill>
                  <a:srgbClr val="FB923C"/>
                </a:solidFill>
                <a:latin typeface="Segoe UI" panose="020B0502040204020203" pitchFamily="34" charset="0"/>
              </a:rPr>
              <a:t>LAYER 03B • </a:t>
            </a:r>
            <a:r>
              <a:rPr lang="en-US">
                <a:latin typeface="Segoe UI" panose="020B0502040204020203" pitchFamily="34" charset="0"/>
              </a:rPr>
              <a:t>MULTIMODAL
</a:t>
            </a:r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Speech &amp; LLM Intel </a:t>
            </a:r>
            <a:r>
              <a:rPr lang="en-US">
                <a:latin typeface="Segoe UI" panose="020B0502040204020203" pitchFamily="34" charset="0"/>
              </a:rPr>
              <a:t>— Indic Dialect Extraction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0CCC2B-4FD8-41C8-AB9E-637158300302}"/>
              </a:ext>
            </a:extLst>
          </p:cNvPr>
          <p:cNvCxnSpPr/>
          <p:nvPr/>
        </p:nvCxnSpPr>
        <p:spPr>
          <a:xfrm>
            <a:off x="4978400" y="4076700"/>
            <a:ext cx="20574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0416256-8797-4388-AC91-A038536A0418}"/>
              </a:ext>
            </a:extLst>
          </p:cNvPr>
          <p:cNvSpPr txBox="1"/>
          <p:nvPr/>
        </p:nvSpPr>
        <p:spPr>
          <a:xfrm>
            <a:off x="4978400" y="4152900"/>
            <a:ext cx="2057400" cy="16619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MeitY Bhashini </a:t>
            </a:r>
            <a:r>
              <a:rPr lang="en-US">
                <a:latin typeface="Segoe UI" panose="020B0502040204020203" pitchFamily="34" charset="0"/>
              </a:rPr>
              <a:t>ASR 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[Dhruva]
</a:t>
            </a:r>
            <a:r>
              <a:rPr lang="en-US">
                <a:latin typeface="Segoe UI" panose="020B0502040204020203" pitchFamily="34" charset="0"/>
              </a:rPr>
              <a:t>  Conformer Indic ASR across 22 scheduled languages &amp; colloquial dialects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5D1AF2-C53C-41D8-B759-EDDC03913B49}"/>
              </a:ext>
            </a:extLst>
          </p:cNvPr>
          <p:cNvSpPr txBox="1"/>
          <p:nvPr/>
        </p:nvSpPr>
        <p:spPr>
          <a:xfrm>
            <a:off x="4978400" y="4638675"/>
            <a:ext cx="2057400" cy="12388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Gemini 2.5 Flash 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[Multimodal]
</a:t>
            </a:r>
            <a:r>
              <a:rPr lang="en-US">
                <a:latin typeface="Segoe UI" panose="020B0502040204020203" pitchFamily="34" charset="0"/>
              </a:rPr>
              <a:t>  Combined audio transcript + image entity extraction for craft metadata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BE6A07-794C-42B7-984F-434B955E7AC9}"/>
              </a:ext>
            </a:extLst>
          </p:cNvPr>
          <p:cNvSpPr txBox="1"/>
          <p:nvPr/>
        </p:nvSpPr>
        <p:spPr>
          <a:xfrm>
            <a:off x="4978400" y="5124450"/>
            <a:ext cx="2057400" cy="15004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Meta Llama 3.2 </a:t>
            </a:r>
            <a:r>
              <a:rPr lang="en-US">
                <a:latin typeface="Segoe UI" panose="020B0502040204020203" pitchFamily="34" charset="0"/>
              </a:rPr>
              <a:t>Vision 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[Edge Fallback]
</a:t>
            </a:r>
            <a:r>
              <a:rPr lang="en-US">
                <a:latin typeface="Segoe UI" panose="020B0502040204020203" pitchFamily="34" charset="0"/>
              </a:rPr>
              <a:t>  Offline/on-prem multimodal fallback for zero-cloud sovereignty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6AE056-A567-49A3-BAAA-0ADE1C82F482}"/>
              </a:ext>
            </a:extLst>
          </p:cNvPr>
          <p:cNvSpPr txBox="1"/>
          <p:nvPr/>
        </p:nvSpPr>
        <p:spPr>
          <a:xfrm>
            <a:off x="4978400" y="5610225"/>
            <a:ext cx="20574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IndicTrans v2 </a:t>
            </a:r>
            <a:r>
              <a:rPr lang="en-US">
                <a:latin typeface="Segoe UI" panose="020B0502040204020203" pitchFamily="34" charset="0"/>
              </a:rPr>
              <a:t>[Translation]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Regional dialect to </a:t>
            </a:r>
            <a:r>
              <a:rPr lang="en-US">
                <a:latin typeface="Segoe UI" panose="020B0502040204020203" pitchFamily="34" charset="0"/>
              </a:rPr>
              <a:t>English product title, materials &amp; craft story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A78BEAA-B18C-4DA1-A255-DF60ABA9C47D}"/>
              </a:ext>
            </a:extLst>
          </p:cNvPr>
          <p:cNvSpPr/>
          <p:nvPr/>
        </p:nvSpPr>
        <p:spPr>
          <a:xfrm>
            <a:off x="7289800" y="736600"/>
            <a:ext cx="2184400" cy="541020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2DD4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C567CA-3C7C-4837-A4DF-931D31E8E847}"/>
              </a:ext>
            </a:extLst>
          </p:cNvPr>
          <p:cNvSpPr txBox="1"/>
          <p:nvPr/>
        </p:nvSpPr>
        <p:spPr>
          <a:xfrm>
            <a:off x="7391400" y="812800"/>
            <a:ext cx="1981200" cy="9771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50" b="1">
                <a:solidFill>
                  <a:srgbClr val="2DD4BF"/>
                </a:solidFill>
                <a:latin typeface="Segoe UI" panose="020B0502040204020203" pitchFamily="34" charset="0"/>
              </a:rPr>
              <a:t>LAYER 04 • </a:t>
            </a:r>
            <a:r>
              <a:rPr lang="en-US">
                <a:latin typeface="Segoe UI" panose="020B0502040204020203" pitchFamily="34" charset="0"/>
              </a:rPr>
              <a:t>COMMERCE
</a:t>
            </a:r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Market Linkage — </a:t>
            </a:r>
            <a:r>
              <a:rPr lang="en-US">
                <a:latin typeface="Segoe UI" panose="020B0502040204020203" pitchFamily="34" charset="0"/>
              </a:rPr>
              <a:t>Statutory Wage &amp; Open Rails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A84646A-1C35-47AE-84D1-85A15C4656DD}"/>
              </a:ext>
            </a:extLst>
          </p:cNvPr>
          <p:cNvCxnSpPr/>
          <p:nvPr/>
        </p:nvCxnSpPr>
        <p:spPr>
          <a:xfrm>
            <a:off x="7391400" y="1371600"/>
            <a:ext cx="1981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37CDDFE-D7F4-4262-9510-8A0000927ECA}"/>
              </a:ext>
            </a:extLst>
          </p:cNvPr>
          <p:cNvSpPr txBox="1"/>
          <p:nvPr/>
        </p:nvSpPr>
        <p:spPr>
          <a:xfrm>
            <a:off x="7391400" y="1447800"/>
            <a:ext cx="1981200" cy="17774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Vyapar-Niti </a:t>
            </a:r>
            <a:r>
              <a:rPr lang="en-US">
                <a:latin typeface="Segoe UI" panose="020B0502040204020203" pitchFamily="34" charset="0"/>
              </a:rPr>
              <a:t>Engine [Fair 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Wage]
</a:t>
            </a:r>
            <a:r>
              <a:rPr lang="en-US">
                <a:latin typeface="Segoe UI" panose="020B0502040204020203" pitchFamily="34" charset="0"/>
              </a:rPr>
              <a:t>  MoSJE statutory ₹120/hr wage floor, B2C (1.35x), B2B wholesale MOQ tiers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25F92C-DEA1-4370-891B-F699B304495B}"/>
              </a:ext>
            </a:extLst>
          </p:cNvPr>
          <p:cNvSpPr txBox="1"/>
          <p:nvPr/>
        </p:nvSpPr>
        <p:spPr>
          <a:xfrm>
            <a:off x="7391400" y="2609850"/>
            <a:ext cx="1981200" cy="16619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CLIP Similarity </a:t>
            </a:r>
            <a:r>
              <a:rPr lang="en-US">
                <a:latin typeface="Segoe UI" panose="020B0502040204020203" pitchFamily="34" charset="0"/>
              </a:rPr>
              <a:t>[Visual 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Index]
</a:t>
            </a:r>
            <a:r>
              <a:rPr lang="en-US">
                <a:latin typeface="Segoe UI" panose="020B0502040204020203" pitchFamily="34" charset="0"/>
              </a:rPr>
              <a:t>  Image embeddings to cross-reference market pricing &amp; prevent duplication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236987-8C33-4634-93F5-DC781A5FEECA}"/>
              </a:ext>
            </a:extLst>
          </p:cNvPr>
          <p:cNvSpPr txBox="1"/>
          <p:nvPr/>
        </p:nvSpPr>
        <p:spPr>
          <a:xfrm>
            <a:off x="7391400" y="3771900"/>
            <a:ext cx="1981200" cy="122341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ONDC Beckn v1.2 </a:t>
            </a:r>
            <a:r>
              <a:rPr lang="en-US">
                <a:latin typeface="Segoe UI" panose="020B0502040204020203" pitchFamily="34" charset="0"/>
              </a:rPr>
              <a:t>[Protocol]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BAP/BPP catalog </a:t>
            </a:r>
            <a:r>
              <a:rPr lang="en-US">
                <a:latin typeface="Segoe UI" panose="020B0502040204020203" pitchFamily="34" charset="0"/>
              </a:rPr>
              <a:t>serialization, open discovery across Buyer Apps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F5E496-D2AB-4410-9229-853861D56D59}"/>
              </a:ext>
            </a:extLst>
          </p:cNvPr>
          <p:cNvSpPr txBox="1"/>
          <p:nvPr/>
        </p:nvSpPr>
        <p:spPr>
          <a:xfrm>
            <a:off x="7391400" y="4933950"/>
            <a:ext cx="1981200" cy="15004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GeM </a:t>
            </a:r>
            <a:r>
              <a:rPr lang="en-US">
                <a:latin typeface="Segoe UI" panose="020B0502040204020203" pitchFamily="34" charset="0"/>
              </a:rPr>
              <a:t>Procurement 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[Gov Orders]
</a:t>
            </a:r>
            <a:r>
              <a:rPr lang="en-US">
                <a:latin typeface="Segoe UI" panose="020B0502040204020203" pitchFamily="34" charset="0"/>
              </a:rPr>
              <a:t>  Direct 15% price preference listing for institutional public procurement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712DA2E-C809-4422-A15C-0B22C7507F59}"/>
              </a:ext>
            </a:extLst>
          </p:cNvPr>
          <p:cNvSpPr/>
          <p:nvPr/>
        </p:nvSpPr>
        <p:spPr>
          <a:xfrm>
            <a:off x="9626600" y="736600"/>
            <a:ext cx="2362200" cy="541020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F8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E8BE60-2858-4508-B450-325B38BCA695}"/>
              </a:ext>
            </a:extLst>
          </p:cNvPr>
          <p:cNvSpPr txBox="1"/>
          <p:nvPr/>
        </p:nvSpPr>
        <p:spPr>
          <a:xfrm>
            <a:off x="9728200" y="812800"/>
            <a:ext cx="2159000" cy="9771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50" b="1">
                <a:solidFill>
                  <a:srgbClr val="F87171"/>
                </a:solidFill>
                <a:latin typeface="Segoe UI" panose="020B0502040204020203" pitchFamily="34" charset="0"/>
              </a:rPr>
              <a:t>LAYER 05 • TRUST &amp; </a:t>
            </a:r>
            <a:r>
              <a:rPr lang="en-US">
                <a:latin typeface="Segoe UI" panose="020B0502040204020203" pitchFamily="34" charset="0"/>
              </a:rPr>
              <a:t>GI
</a:t>
            </a:r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Security &amp; Trust — </a:t>
            </a:r>
            <a:r>
              <a:rPr lang="en-US">
                <a:latin typeface="Segoe UI" panose="020B0502040204020203" pitchFamily="34" charset="0"/>
              </a:rPr>
              <a:t>Cryptographic Provenance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9A319D5-A896-49BD-9821-9C0B71C81619}"/>
              </a:ext>
            </a:extLst>
          </p:cNvPr>
          <p:cNvCxnSpPr/>
          <p:nvPr/>
        </p:nvCxnSpPr>
        <p:spPr>
          <a:xfrm>
            <a:off x="9728200" y="1371600"/>
            <a:ext cx="21590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E2279B1-7603-481F-812B-3298C17F8B4B}"/>
              </a:ext>
            </a:extLst>
          </p:cNvPr>
          <p:cNvSpPr txBox="1"/>
          <p:nvPr/>
        </p:nvSpPr>
        <p:spPr>
          <a:xfrm>
            <a:off x="9728200" y="1447800"/>
            <a:ext cx="2159000" cy="17774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2D DCT </a:t>
            </a:r>
            <a:r>
              <a:rPr lang="en-US">
                <a:latin typeface="Segoe UI" panose="020B0502040204020203" pitchFamily="34" charset="0"/>
              </a:rPr>
              <a:t>Steganography 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[SciPy]
</a:t>
            </a:r>
            <a:r>
              <a:rPr lang="en-US">
                <a:latin typeface="Segoe UI" panose="020B0502040204020203" pitchFamily="34" charset="0"/>
              </a:rPr>
              <a:t>  Invisible frequency-domain luminance watermark with artisan GI &amp; timestamp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82C284-F730-4B2F-827D-982B9C1B0E22}"/>
              </a:ext>
            </a:extLst>
          </p:cNvPr>
          <p:cNvSpPr txBox="1"/>
          <p:nvPr/>
        </p:nvSpPr>
        <p:spPr>
          <a:xfrm>
            <a:off x="9728200" y="2609850"/>
            <a:ext cx="2159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SHA-256 </a:t>
            </a:r>
            <a:r>
              <a:rPr lang="en-US">
                <a:latin typeface="Segoe UI" panose="020B0502040204020203" pitchFamily="34" charset="0"/>
              </a:rPr>
              <a:t>Fingerprint 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[Integrity]
</a:t>
            </a:r>
            <a:r>
              <a:rPr lang="en-US">
                <a:latin typeface="Segoe UI" panose="020B0502040204020203" pitchFamily="34" charset="0"/>
              </a:rPr>
              <a:t>  Cryptographic payload digest preventing catalog tampering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2FF453-68CB-41A9-A41B-864DEF46BA55}"/>
              </a:ext>
            </a:extLst>
          </p:cNvPr>
          <p:cNvSpPr txBox="1"/>
          <p:nvPr/>
        </p:nvSpPr>
        <p:spPr>
          <a:xfrm>
            <a:off x="9728200" y="3771900"/>
            <a:ext cx="2159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Dynamic QR </a:t>
            </a:r>
            <a:r>
              <a:rPr lang="en-US">
                <a:latin typeface="Segoe UI" panose="020B0502040204020203" pitchFamily="34" charset="0"/>
              </a:rPr>
              <a:t>[Verify]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Scannable buyer </a:t>
            </a:r>
            <a:r>
              <a:rPr lang="en-US">
                <a:latin typeface="Segoe UI" panose="020B0502040204020203" pitchFamily="34" charset="0"/>
              </a:rPr>
              <a:t>certificate linking directly to artisan cluster &amp; GI registry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06CE7B-B37F-4329-BA8A-9C8EB9D8A2A4}"/>
              </a:ext>
            </a:extLst>
          </p:cNvPr>
          <p:cNvSpPr txBox="1"/>
          <p:nvPr/>
        </p:nvSpPr>
        <p:spPr>
          <a:xfrm>
            <a:off x="9728200" y="4933950"/>
            <a:ext cx="2159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F1F5F9"/>
                </a:solidFill>
                <a:latin typeface="Segoe UI" panose="020B0502040204020203" pitchFamily="34" charset="0"/>
              </a:rPr>
              <a:t>• Karigar Trust Score </a:t>
            </a:r>
            <a:r>
              <a:rPr lang="en-US">
                <a:latin typeface="Segoe UI" panose="020B0502040204020203" pitchFamily="34" charset="0"/>
              </a:rPr>
              <a:t>[Ledger]
</a:t>
            </a:r>
            <a:r>
              <a:rPr lang="en-US" sz="750">
                <a:solidFill>
                  <a:srgbClr val="94A3B8"/>
                </a:solidFill>
                <a:latin typeface="Segoe UI" panose="020B0502040204020203" pitchFamily="34" charset="0"/>
              </a:rPr>
              <a:t>  Fulfillment history, </a:t>
            </a:r>
            <a:r>
              <a:rPr lang="en-US">
                <a:latin typeface="Segoe UI" panose="020B0502040204020203" pitchFamily="34" charset="0"/>
              </a:rPr>
              <a:t>material authenticity &amp; craft ratings credit scoring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8A0F50F-A4CF-422B-8342-3CA3645252EC}"/>
              </a:ext>
            </a:extLst>
          </p:cNvPr>
          <p:cNvSpPr/>
          <p:nvPr/>
        </p:nvSpPr>
        <p:spPr>
          <a:xfrm>
            <a:off x="2209800" y="3111500"/>
            <a:ext cx="355600" cy="254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80CB45B-93FD-4AD6-B479-D81A3BEA15F4}"/>
              </a:ext>
            </a:extLst>
          </p:cNvPr>
          <p:cNvSpPr/>
          <p:nvPr/>
        </p:nvSpPr>
        <p:spPr>
          <a:xfrm>
            <a:off x="4521200" y="1778000"/>
            <a:ext cx="355600" cy="254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AF3A250-7E23-4ABE-9EFB-A173EB105A30}"/>
              </a:ext>
            </a:extLst>
          </p:cNvPr>
          <p:cNvSpPr/>
          <p:nvPr/>
        </p:nvSpPr>
        <p:spPr>
          <a:xfrm>
            <a:off x="4521200" y="4445000"/>
            <a:ext cx="355600" cy="254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2CFF468-21D7-4FC5-A5F1-54F68F6DECD0}"/>
              </a:ext>
            </a:extLst>
          </p:cNvPr>
          <p:cNvSpPr/>
          <p:nvPr/>
        </p:nvSpPr>
        <p:spPr>
          <a:xfrm>
            <a:off x="6959600" y="3111500"/>
            <a:ext cx="355600" cy="254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DD4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414213F-1885-4881-A630-BC20EE3097D6}"/>
              </a:ext>
            </a:extLst>
          </p:cNvPr>
          <p:cNvSpPr/>
          <p:nvPr/>
        </p:nvSpPr>
        <p:spPr>
          <a:xfrm>
            <a:off x="9296400" y="3111500"/>
            <a:ext cx="355600" cy="254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8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FA9ADF9-CF71-46AF-B54E-8C9486E299AC}"/>
              </a:ext>
            </a:extLst>
          </p:cNvPr>
          <p:cNvSpPr/>
          <p:nvPr/>
        </p:nvSpPr>
        <p:spPr>
          <a:xfrm>
            <a:off x="203200" y="6248400"/>
            <a:ext cx="11785600" cy="482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0B15AF-9A10-4BC5-BAFB-92A3B898301B}"/>
              </a:ext>
            </a:extLst>
          </p:cNvPr>
          <p:cNvSpPr txBox="1"/>
          <p:nvPr/>
        </p:nvSpPr>
        <p:spPr>
          <a:xfrm>
            <a:off x="304800" y="6286500"/>
            <a:ext cx="115824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94A3B8"/>
                </a:solidFill>
                <a:latin typeface="Segoe UI" panose="020B0502040204020203" pitchFamily="34" charset="0"/>
              </a:rPr>
              <a:t>Legend: ① Ingestion  ② Vision AI  ③ Speech &amp; LLM  ④ Fair Wage Pricing  ⑤ Provenance &amp; GI  ⑥ Persistent </a:t>
            </a:r>
            <a:r>
              <a:rPr lang="en-US">
                <a:latin typeface="Segoe UI" panose="020B0502040204020203" pitchFamily="34" charset="0"/>
              </a:rPr>
              <a:t>Sync
</a:t>
            </a:r>
            <a:r>
              <a:rPr lang="en-US" sz="800" b="1">
                <a:solidFill>
                  <a:srgbClr val="34D399"/>
                </a:solidFill>
                <a:latin typeface="Segoe UI" panose="020B0502040204020203" pitchFamily="34" charset="0"/>
              </a:rPr>
              <a:t>Performance: Latency &lt; 4.2s End-to-End  |  Living Wage Guard: 100% Protected (₹120/hr floor)  |  Sovereignty: </a:t>
            </a:r>
            <a:r>
              <a:rPr lang="en-US">
                <a:latin typeface="Segoe UI" panose="020B0502040204020203" pitchFamily="34" charset="0"/>
              </a:rPr>
              <a:t>ONDC + GeM Ready</a:t>
            </a:r>
          </a:p>
        </p:txBody>
      </p:sp>
    </p:spTree>
    <p:extLst>
      <p:ext uri="{BB962C8B-B14F-4D97-AF65-F5344CB8AC3E}">
        <p14:creationId xmlns:p14="http://schemas.microsoft.com/office/powerpoint/2010/main" val="89975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Hrishikh</dc:creator>
  <cp:lastModifiedBy>Hrishikh</cp:lastModifiedBy>
  <cp:revision>1</cp:revision>
  <dcterms:created xsi:type="dcterms:W3CDTF">2026-09-23T00:11:27Z</dcterms:created>
  <dcterms:modified xsi:type="dcterms:W3CDTF">2026-09-23T00:11:27Z</dcterms:modified>
</cp:coreProperties>
</file>